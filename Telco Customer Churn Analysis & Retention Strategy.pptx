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5600" y="2582316"/>
            <a:ext cx="6400800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Telco Customer Churn</a:t>
            </a:r>
            <a:r>
              <a:t>
</a:t>
            </a:r>
            <a:r>
              <a:rPr sz="4200" b="1" i="0" u="none">
                <a:solidFill>
                  <a:srgbClr val="0F172A"/>
                </a:solidFill>
                <a:latin typeface="Poppins"/>
              </a:rPr>
              <a:t> Analysis &amp;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999458"/>
            <a:ext cx="85725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Identifying root causes of customer loss, key risk factors across contract types, and high-impact retention strategies to protect recurring revenue.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38375"/>
            <a:ext cx="5334000" cy="3286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38375"/>
            <a:ext cx="5334000" cy="3286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3038475"/>
            <a:ext cx="486060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oppins SemiBold"/>
              </a:rPr>
              <a:t>The Core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86150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The telecommunications company is experiencing ongoing customer churn, directly degrading recurring revenue streams and diminishing Customer Lifetime Value (CLV).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4329112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Acquiring new subscribers requires significant capital expenditure; thus, preventing attrition among existing accounts is vital for sustainable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038475"/>
            <a:ext cx="486060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oppins SemiBold"/>
              </a:rPr>
              <a:t>Analytical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486150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Question 1: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Why are customers leaving the company during key lifecycle windows?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086225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Question 2: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Which specific characteristics (services, contract length, support, billing) contribute most heavily to customer churn?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Business Problem &amp; Objectives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47975"/>
            <a:ext cx="5334000" cy="2066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228975"/>
            <a:ext cx="4953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38BDF8"/>
                </a:solidFill>
                <a:latin typeface="Poppins"/>
              </a:rPr>
              <a:t>26.5%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276725"/>
            <a:ext cx="49530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Lato"/>
              </a:rPr>
              <a:t>Overall Churn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400300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oppins SemiBold"/>
              </a:rPr>
              <a:t>Dataset Scope &amp; Baseline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847975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The analysis evaluated the 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WA_Fn-UseC_-Telco-Customer-Churn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dataset comprising 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7,043 customer accounts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and 21 detailed behavioral and billing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368855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690937"/>
            <a:ext cx="5143500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Total Customers Evaluated: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7,043 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4045743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4048125"/>
            <a:ext cx="5143500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Churned Customers: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1,869 accounts (26.54% churn rate)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440293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4405312"/>
            <a:ext cx="5143500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Retained Customers: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5,174 accounts (73.46%)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476011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4762500"/>
            <a:ext cx="514350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Key Feature Domains: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Customer tenure, internet services, contract types, add-on security/support, and billing/payment methods.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Dataset Overview &amp; Baseline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2166937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oppins SemiBold"/>
              </a:rPr>
              <a:t>Key Hypothesis 1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261223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614612"/>
            <a:ext cx="514350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Shorter Customer Tenure: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Churned customers leave primarily in the early stages of their relationship, demonstrating acute onboarding retention challenges.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455193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57575"/>
            <a:ext cx="514350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Higher Monthly Bill Premium: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Churned customers pay an average of 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$74.44/mo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vs. </a:t>
            </a:r>
            <a:r>
              <a:rPr sz="1275" b="1" i="0" u="none">
                <a:solidFill>
                  <a:srgbClr val="334155"/>
                </a:solidFill>
                <a:latin typeface="Lato"/>
              </a:rPr>
              <a:t>$61.27/mo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for retained accounts (+21.5% higher).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0725" y="2614612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3976" y="2614612"/>
            <a:ext cx="514350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334155"/>
                </a:solidFill>
                <a:latin typeface="Lato"/>
              </a:rPr>
              <a:t>Service Composition Paradox: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 Higher churn pricing is driven by service selection—</a:t>
            </a:r>
            <a:r>
              <a:rPr sz="1275" b="1" i="0" u="none" dirty="0">
                <a:solidFill>
                  <a:srgbClr val="334155"/>
                </a:solidFill>
                <a:latin typeface="Lato"/>
              </a:rPr>
              <a:t>69% of churners use Fiber Optic</a:t>
            </a:r>
            <a:r>
              <a:rPr sz="1275" b="0" i="0" u="none" dirty="0">
                <a:solidFill>
                  <a:srgbClr val="334155"/>
                </a:solidFill>
                <a:latin typeface="Lato"/>
              </a:rPr>
              <a:t> (vs 35% of retained users). Within the same service tier, retained users actually pay more!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Tenure &amp; Monthly Charges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81125"/>
            <a:ext cx="11049000" cy="50006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1500" y="4357687"/>
            <a:ext cx="11049000" cy="752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4491037"/>
            <a:ext cx="10668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1" u="none">
                <a:solidFill>
                  <a:srgbClr val="334155"/>
                </a:solidFill>
                <a:latin typeface="Lato"/>
              </a:rPr>
              <a:t>Hypothesis 3 Insight:</a:t>
            </a:r>
            <a:r>
              <a:rPr sz="1275" b="0" i="1" u="none">
                <a:solidFill>
                  <a:srgbClr val="334155"/>
                </a:solidFill>
                <a:latin typeface="Lato"/>
              </a:rPr>
              <a:t> Among fiber-optic internet subscribers, churn is heavily linked to contract structure. Flexible month-to-month contracts experience a massive 54.61% churn rate, compared to just 7.23% for two-year commitments.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4357687"/>
            <a:ext cx="38100" cy="7524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Contract Impact on Fiber Optic Churn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97856"/>
            <a:ext cx="11049000" cy="2862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81125"/>
            <a:ext cx="11049000" cy="500062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1907381"/>
          <a:ext cx="11029948" cy="2843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8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10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642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Poppins"/>
                        </a:rPr>
                        <a:t>Technical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Poppins"/>
                        </a:rPr>
                        <a:t>Online Security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Poppins"/>
                        </a:rPr>
                        <a:t>High-Risk Segment Churn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Poppins"/>
                        </a:rPr>
                        <a:t>Risk Assessment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642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Lato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Lato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E11D48"/>
                          </a:solidFill>
                          <a:latin typeface="Lato"/>
                        </a:rPr>
                        <a:t>60.70%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Critical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642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Lato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Lato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Lato"/>
                        </a:rPr>
                        <a:t>42.40%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B45309"/>
                          </a:solidFill>
                          <a:latin typeface="Lato"/>
                        </a:rPr>
                        <a:t>High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642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Lato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Lato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Lato"/>
                        </a:rPr>
                        <a:t>39.71%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B45309"/>
                          </a:solidFill>
                          <a:latin typeface="Lato"/>
                        </a:rPr>
                        <a:t>Moderate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644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Lato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Lato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5803D"/>
                          </a:solidFill>
                          <a:latin typeface="Lato"/>
                        </a:rPr>
                        <a:t>28.05%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Lato"/>
                        </a:rPr>
                        <a:t>Low Risk (-32.65%)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2450306"/>
            <a:ext cx="25607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141761" y="2450306"/>
            <a:ext cx="2198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40250" y="2450306"/>
            <a:ext cx="3909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249965" y="2450306"/>
            <a:ext cx="2361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036093"/>
            <a:ext cx="25607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141761" y="3036093"/>
            <a:ext cx="2198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40250" y="3036093"/>
            <a:ext cx="3909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49965" y="3036093"/>
            <a:ext cx="2361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3593306"/>
            <a:ext cx="25607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41761" y="3593306"/>
            <a:ext cx="2198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40250" y="3593306"/>
            <a:ext cx="3909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249965" y="3593306"/>
            <a:ext cx="2361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4150518"/>
            <a:ext cx="25607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41761" y="4150518"/>
            <a:ext cx="2198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40250" y="4150518"/>
            <a:ext cx="3909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49965" y="4150518"/>
            <a:ext cx="2361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025" y="4736306"/>
            <a:ext cx="25607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41761" y="4736306"/>
            <a:ext cx="21984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40250" y="4736306"/>
            <a:ext cx="390971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49965" y="4736306"/>
            <a:ext cx="2361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Support &amp; Security Impact Matrix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31243"/>
            <a:ext cx="3505200" cy="31003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331243"/>
            <a:ext cx="3505200" cy="31003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331243"/>
            <a:ext cx="3505200" cy="31003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45643"/>
            <a:ext cx="306038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oppins SemiBold"/>
              </a:rPr>
              <a:t>Electronic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93318"/>
            <a:ext cx="29146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65.82% Churn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50506"/>
            <a:ext cx="29146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651 out of 989 high-risk users. Electronic checks represent severe friction or manual payment hesitation among vulnerable accounts.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8675" y="3245643"/>
            <a:ext cx="306038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oppins SemiBold"/>
              </a:rPr>
              <a:t>Mailed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8675" y="3693318"/>
            <a:ext cx="29146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55.47% Churn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675" y="4050506"/>
            <a:ext cx="29146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76 out of 137 users. Manual paper check payments show moderate-to-high churn due to lack of automated billing retention.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0575" y="3245643"/>
            <a:ext cx="306038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oppins SemiBold"/>
              </a:rPr>
              <a:t>Credit Card (Auto)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0575" y="3693318"/>
            <a:ext cx="29146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Lato"/>
              </a:rPr>
              <a:t>47.31% Churn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0575" y="4050506"/>
            <a:ext cx="291465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88 out of 186 users. Automatic credit card billing yields an 18.51 percentage point improvement over electronic check payments.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02718"/>
            <a:ext cx="409575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675" y="2702718"/>
            <a:ext cx="36195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0575" y="2702718"/>
            <a:ext cx="409575" cy="3619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Payment Method Churn Drivers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0125" y="2612231"/>
            <a:ext cx="10620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Incentivize Long-Term Contract Upgrades: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Target month-to-month fiber-optic subscribers with initial promotional discounts to migrate them to 1-year or 2-year commitments.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125" y="3307556"/>
            <a:ext cx="10620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Strengthen Onboarding Programs: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Implement proactive check-ins during the first 90 days to enhance perceived service value among new, vulnerable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125" y="4002881"/>
            <a:ext cx="106203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Bundle Security &amp; Technical Support: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Package Online Security and Tech Support into core fiber-optic tiers to cut high-risk segment churn by up to 32.6%.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4455318"/>
            <a:ext cx="106203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Lato"/>
              </a:rPr>
              <a:t>Transition Electronic Check Users to Auto-Pay:</a:t>
            </a:r>
            <a:r>
              <a:rPr sz="1275" b="0" i="0" u="none">
                <a:solidFill>
                  <a:srgbClr val="334155"/>
                </a:solidFill>
                <a:latin typeface="Lato"/>
              </a:rPr>
              <a:t> Investigate electronic check billing pain points and offer $5/mo statement credits for enrolling in automatic credit card/bank payments.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6518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21843"/>
            <a:ext cx="180975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17168"/>
            <a:ext cx="2381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69606"/>
            <a:ext cx="1619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Strategic Retention Actions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3A8A"/>
                </a:solidFill>
                <a:latin typeface="Poppins"/>
              </a:rPr>
              <a:t>Executive Conclusion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562100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3062287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3A8A"/>
                </a:solidFill>
                <a:latin typeface="Poppins SemiBold"/>
              </a:rPr>
              <a:t>Multi-Factor Strategic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509962"/>
            <a:ext cx="10611612" cy="248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Lato"/>
              </a:rPr>
              <a:t>Customer churn is driven by a combination of contract flexibility, lack of service support, and billing friction—not simple price resistance.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945645"/>
            <a:ext cx="10840212" cy="530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Lato"/>
              </a:rPr>
              <a:t>By executing targeted early onboarding, bundling tech support/security, and migrating users to auto-pay long-term contracts, the company can drastically boost lifetime value and protect core revenue.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654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Lato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Jonathan Ogana</cp:lastModifiedBy>
  <cp:revision>2</cp:revision>
  <dcterms:created xsi:type="dcterms:W3CDTF">2013-01-27T09:14:16Z</dcterms:created>
  <dcterms:modified xsi:type="dcterms:W3CDTF">2026-08-07T18:43:18Z</dcterms:modified>
  <cp:category/>
</cp:coreProperties>
</file>